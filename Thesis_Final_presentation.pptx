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80" r:id="rId22"/>
    <p:sldId id="281" r:id="rId23"/>
    <p:sldId id="287" r:id="rId24"/>
    <p:sldId id="283" r:id="rId25"/>
    <p:sldId id="284" r:id="rId26"/>
    <p:sldId id="285" r:id="rId27"/>
    <p:sldId id="286" r:id="rId28"/>
    <p:sldId id="288" r:id="rId29"/>
    <p:sldId id="289" r:id="rId30"/>
    <p:sldId id="275" r:id="rId31"/>
    <p:sldId id="276" r:id="rId32"/>
    <p:sldId id="277" r:id="rId33"/>
    <p:sldId id="278" r:id="rId34"/>
    <p:sldId id="27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lRy0SAKtoS4DiNLY/66jLOoRFS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fia Arpi" initials="AA" lastIdx="1" clrIdx="0">
    <p:extLst>
      <p:ext uri="{19B8F6BF-5375-455C-9EA6-DF929625EA0E}">
        <p15:presenceInfo xmlns:p15="http://schemas.microsoft.com/office/powerpoint/2012/main" userId="1e51e48bc0269ed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29751E-DE89-4F00-8BFE-B7A9677A6CD2}">
  <a:tblStyle styleId="{F729751E-DE89-4F00-8BFE-B7A9677A6CD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942D78C-A46A-4334-9299-465157EBFE3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94c046e7e_0_4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694c046e7e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736f624a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6736f624ad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36736f624ad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d16899d93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3d16899d93_1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0" name="Google Shape;130;g33d16899d93_1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d16899d9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3d16899d93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3d16899d93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94c046e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694c046e7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3694c046e7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d16899d93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3d16899d93_1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33d16899d93_1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736f624a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6736f624a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36736f624ad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12f2b39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312f2b390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312f2b390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71f320c5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371f320c5b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3371f320c5b_0_1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d16899d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3d16899d93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3d16899d93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14dc2359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314dc23593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3314dc23593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1599f4577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31599f4577_1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331599f4577_1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94c046e7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694c046e7e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g3694c046e7e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1599f4577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31599f4577_1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31599f4577_1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d16899d9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3d16899d93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g33d16899d93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611cfad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611cfadb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a611cfadb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611cfadb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611cfadbb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a611cfadbb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611cfad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611cfadbb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a611cfadbb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736f624a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6736f624ad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36736f624ad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736f624a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6736f624ad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g36736f624ad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94c046e7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94c046e7e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g3694c046e7e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94c046e7e_0_3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g3694c046e7e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94c046e7e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g3694c046e7e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72707-2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94c046e7e_0_468"/>
          <p:cNvSpPr txBox="1">
            <a:spLocks noGrp="1"/>
          </p:cNvSpPr>
          <p:nvPr>
            <p:ph type="ctrTitle"/>
          </p:nvPr>
        </p:nvSpPr>
        <p:spPr>
          <a:xfrm>
            <a:off x="395741" y="1466669"/>
            <a:ext cx="11400600" cy="12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 sz="2300" b="1" i="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300" b="1" i="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2300" b="1" i="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 b="1" i="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 i="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An Energy-Efficient Deep Learning Model for Breast Cancer Detection</a:t>
            </a:r>
            <a:r>
              <a:rPr lang="en-US" sz="4000" b="0" i="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2300" b="0" i="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/>
          </a:p>
        </p:txBody>
      </p:sp>
      <p:sp>
        <p:nvSpPr>
          <p:cNvPr id="89" name="Google Shape;89;g3694c046e7e_0_468"/>
          <p:cNvSpPr/>
          <p:nvPr/>
        </p:nvSpPr>
        <p:spPr>
          <a:xfrm rot="10800000" flipH="1">
            <a:off x="0" y="4022100"/>
            <a:ext cx="12192000" cy="283590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  <a:gs pos="100000">
                <a:srgbClr val="000000"/>
              </a:gs>
            </a:gsLst>
            <a:lin ang="239989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94c046e7e_0_468"/>
          <p:cNvSpPr/>
          <p:nvPr/>
        </p:nvSpPr>
        <p:spPr>
          <a:xfrm flipH="1">
            <a:off x="4038598" y="4022220"/>
            <a:ext cx="8153400" cy="2835900"/>
          </a:xfrm>
          <a:prstGeom prst="rect">
            <a:avLst/>
          </a:prstGeom>
          <a:gradFill>
            <a:gsLst>
              <a:gs pos="0">
                <a:srgbClr val="000000">
                  <a:alpha val="61960"/>
                </a:srgbClr>
              </a:gs>
              <a:gs pos="100000">
                <a:srgbClr val="2F5496"/>
              </a:gs>
            </a:gsLst>
            <a:lin ang="660013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694c046e7e_0_468"/>
          <p:cNvSpPr/>
          <p:nvPr/>
        </p:nvSpPr>
        <p:spPr>
          <a:xfrm flipH="1">
            <a:off x="-2" y="4031320"/>
            <a:ext cx="12253500" cy="2835900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39000">
                <a:srgbClr val="1F3864">
                  <a:alpha val="0"/>
                </a:srgbClr>
              </a:gs>
              <a:gs pos="100000">
                <a:srgbClr val="000000">
                  <a:alpha val="70980"/>
                </a:srgbClr>
              </a:gs>
            </a:gsLst>
            <a:lin ang="1740015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694c046e7e_0_468"/>
          <p:cNvSpPr txBox="1">
            <a:spLocks noGrp="1"/>
          </p:cNvSpPr>
          <p:nvPr>
            <p:ph type="subTitle" idx="1"/>
          </p:nvPr>
        </p:nvSpPr>
        <p:spPr>
          <a:xfrm>
            <a:off x="5364994" y="4031320"/>
            <a:ext cx="6827100" cy="3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Presented By-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Asfia Haque Arpi (221-35-972)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Mr. Suprove Chandra Sarkar,</a:t>
            </a:r>
            <a:b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Department of Software Engineering, DI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93" name="Google Shape;93;g3694c046e7e_0_468"/>
          <p:cNvSpPr/>
          <p:nvPr/>
        </p:nvSpPr>
        <p:spPr>
          <a:xfrm flipH="1">
            <a:off x="-2" y="6400797"/>
            <a:ext cx="12192000" cy="457200"/>
          </a:xfrm>
          <a:prstGeom prst="rect">
            <a:avLst/>
          </a:prstGeom>
          <a:gradFill>
            <a:gsLst>
              <a:gs pos="0">
                <a:srgbClr val="000000">
                  <a:alpha val="41960"/>
                </a:srgbClr>
              </a:gs>
              <a:gs pos="79000">
                <a:srgbClr val="2F5496">
                  <a:alpha val="21176"/>
                </a:srgbClr>
              </a:gs>
              <a:gs pos="100000">
                <a:srgbClr val="2F5496">
                  <a:alpha val="21176"/>
                </a:srgbClr>
              </a:gs>
            </a:gsLst>
            <a:lin ang="21593863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g3694c046e7e_0_4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0741" y="415850"/>
            <a:ext cx="935600" cy="7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694c046e7e_0_4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508" y="4173238"/>
            <a:ext cx="1578664" cy="25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694c046e7e_0_4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91874" y="4164018"/>
            <a:ext cx="2146628" cy="256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736f624ad_0_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6736f624ad_0_32"/>
          <p:cNvSpPr txBox="1"/>
          <p:nvPr/>
        </p:nvSpPr>
        <p:spPr>
          <a:xfrm>
            <a:off x="1264708" y="371100"/>
            <a:ext cx="96627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Outlines</a:t>
            </a:r>
            <a:endParaRPr sz="4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" name="Google Shape;104;g36736f624ad_0_32"/>
          <p:cNvGrpSpPr/>
          <p:nvPr/>
        </p:nvGrpSpPr>
        <p:grpSpPr>
          <a:xfrm>
            <a:off x="1368313" y="1744067"/>
            <a:ext cx="6987900" cy="4219947"/>
            <a:chOff x="0" y="1366"/>
            <a:chExt cx="6987900" cy="4219947"/>
          </a:xfrm>
        </p:grpSpPr>
        <p:sp>
          <p:nvSpPr>
            <p:cNvPr id="105" name="Google Shape;105;g36736f624ad_0_32"/>
            <p:cNvSpPr/>
            <p:nvPr/>
          </p:nvSpPr>
          <p:spPr>
            <a:xfrm>
              <a:off x="0" y="1366"/>
              <a:ext cx="6987900" cy="582000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g36736f624ad_0_32"/>
            <p:cNvSpPr/>
            <p:nvPr/>
          </p:nvSpPr>
          <p:spPr>
            <a:xfrm>
              <a:off x="176076" y="132332"/>
              <a:ext cx="320100" cy="320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g36736f624ad_0_32"/>
            <p:cNvSpPr/>
            <p:nvPr/>
          </p:nvSpPr>
          <p:spPr>
            <a:xfrm>
              <a:off x="672292" y="1366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" name="Google Shape;108;g36736f624ad_0_32"/>
            <p:cNvSpPr txBox="1"/>
            <p:nvPr/>
          </p:nvSpPr>
          <p:spPr>
            <a:xfrm>
              <a:off x="672292" y="1366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600" tIns="61600" rIns="61600" bIns="61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Gaps and Problem Statement</a:t>
              </a:r>
              <a:endPara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" name="Google Shape;109;g36736f624ad_0_32"/>
            <p:cNvSpPr/>
            <p:nvPr/>
          </p:nvSpPr>
          <p:spPr>
            <a:xfrm>
              <a:off x="0" y="728955"/>
              <a:ext cx="6987900" cy="582000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g36736f624ad_0_32"/>
            <p:cNvSpPr/>
            <p:nvPr/>
          </p:nvSpPr>
          <p:spPr>
            <a:xfrm>
              <a:off x="176076" y="859921"/>
              <a:ext cx="320100" cy="32010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g36736f624ad_0_32"/>
            <p:cNvSpPr/>
            <p:nvPr/>
          </p:nvSpPr>
          <p:spPr>
            <a:xfrm>
              <a:off x="672292" y="728955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g36736f624ad_0_32"/>
            <p:cNvSpPr txBox="1"/>
            <p:nvPr/>
          </p:nvSpPr>
          <p:spPr>
            <a:xfrm>
              <a:off x="672292" y="728955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600" tIns="61600" rIns="61600" bIns="61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 and Contribution</a:t>
              </a:r>
              <a:endPara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g36736f624ad_0_32"/>
            <p:cNvSpPr/>
            <p:nvPr/>
          </p:nvSpPr>
          <p:spPr>
            <a:xfrm>
              <a:off x="0" y="1456544"/>
              <a:ext cx="6987900" cy="582000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g36736f624ad_0_32"/>
            <p:cNvSpPr/>
            <p:nvPr/>
          </p:nvSpPr>
          <p:spPr>
            <a:xfrm>
              <a:off x="176076" y="1587511"/>
              <a:ext cx="320100" cy="32010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g36736f624ad_0_32"/>
            <p:cNvSpPr/>
            <p:nvPr/>
          </p:nvSpPr>
          <p:spPr>
            <a:xfrm>
              <a:off x="672292" y="1456544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g36736f624ad_0_32"/>
            <p:cNvSpPr txBox="1"/>
            <p:nvPr/>
          </p:nvSpPr>
          <p:spPr>
            <a:xfrm>
              <a:off x="672292" y="1456544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600" tIns="61600" rIns="61600" bIns="61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Scope and Literature Review</a:t>
              </a:r>
              <a:endPara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g36736f624ad_0_32"/>
            <p:cNvSpPr/>
            <p:nvPr/>
          </p:nvSpPr>
          <p:spPr>
            <a:xfrm>
              <a:off x="0" y="2184134"/>
              <a:ext cx="6987900" cy="582000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g36736f624ad_0_32"/>
            <p:cNvSpPr/>
            <p:nvPr/>
          </p:nvSpPr>
          <p:spPr>
            <a:xfrm>
              <a:off x="176076" y="2315100"/>
              <a:ext cx="320100" cy="3201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g36736f624ad_0_32"/>
            <p:cNvSpPr/>
            <p:nvPr/>
          </p:nvSpPr>
          <p:spPr>
            <a:xfrm>
              <a:off x="672292" y="2104606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g36736f624ad_0_32"/>
            <p:cNvSpPr txBox="1"/>
            <p:nvPr/>
          </p:nvSpPr>
          <p:spPr>
            <a:xfrm>
              <a:off x="672292" y="2104606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600" tIns="61600" rIns="61600" bIns="61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  <a:endPara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g36736f624ad_0_32"/>
            <p:cNvSpPr/>
            <p:nvPr/>
          </p:nvSpPr>
          <p:spPr>
            <a:xfrm>
              <a:off x="0" y="2911723"/>
              <a:ext cx="6987900" cy="582000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g36736f624ad_0_32"/>
            <p:cNvSpPr/>
            <p:nvPr/>
          </p:nvSpPr>
          <p:spPr>
            <a:xfrm>
              <a:off x="176076" y="3042690"/>
              <a:ext cx="320100" cy="32010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" name="Google Shape;123;g36736f624ad_0_32"/>
            <p:cNvSpPr/>
            <p:nvPr/>
          </p:nvSpPr>
          <p:spPr>
            <a:xfrm>
              <a:off x="672292" y="2911723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g36736f624ad_0_32"/>
            <p:cNvSpPr txBox="1"/>
            <p:nvPr/>
          </p:nvSpPr>
          <p:spPr>
            <a:xfrm>
              <a:off x="672292" y="2911723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600" tIns="61600" rIns="61600" bIns="61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  <a:endPara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g36736f624ad_0_32"/>
            <p:cNvSpPr/>
            <p:nvPr/>
          </p:nvSpPr>
          <p:spPr>
            <a:xfrm>
              <a:off x="672292" y="3639313"/>
              <a:ext cx="63156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26" name="Google Shape;126;g36736f624ad_0_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0741" y="415850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16899d93_1_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3d16899d93_1_32"/>
          <p:cNvSpPr txBox="1">
            <a:spLocks noGrp="1"/>
          </p:cNvSpPr>
          <p:nvPr>
            <p:ph type="body" idx="1"/>
          </p:nvPr>
        </p:nvSpPr>
        <p:spPr>
          <a:xfrm>
            <a:off x="767875" y="1825625"/>
            <a:ext cx="6491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988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One of the main causes of death for women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88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Urgent need for scalable, accurate diagnosis.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88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Existing models have poor dataset generalization.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88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Models are too complex for environments with </a:t>
            </a:r>
            <a:endParaRPr dirty="0"/>
          </a:p>
          <a:p>
            <a:pPr marL="95885" lvl="0" indent="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  limited resources.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42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3d16899d93_1_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g33d16899d93_1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0741" y="415850"/>
            <a:ext cx="935600" cy="7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3d16899d93_1_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6446" y="1603837"/>
            <a:ext cx="5353679" cy="43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d16899d93_1_0"/>
          <p:cNvSpPr txBox="1">
            <a:spLocks noGrp="1"/>
          </p:cNvSpPr>
          <p:nvPr>
            <p:ph type="title"/>
          </p:nvPr>
        </p:nvSpPr>
        <p:spPr>
          <a:xfrm>
            <a:off x="1160050" y="466100"/>
            <a:ext cx="7098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Research Gaps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3d16899d93_1_0"/>
          <p:cNvSpPr txBox="1">
            <a:spLocks noGrp="1"/>
          </p:cNvSpPr>
          <p:nvPr>
            <p:ph type="body" idx="1"/>
          </p:nvPr>
        </p:nvSpPr>
        <p:spPr>
          <a:xfrm>
            <a:off x="882300" y="1671150"/>
            <a:ext cx="10427400" cy="443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885" algn="just" rtl="0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Lack of generalization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across diverse datasets limits model robustness.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957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Lack of energy-efficient design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while developing a deep learning model.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885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Lack of magnification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diversity limits adaptability in histopathological image analysis.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885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Lack of clinical data integration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weakens real-world diagnostic applicability.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1818"/>
              <a:buNone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3d16899d93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g33d16899d93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4825" y="549200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94c046e7e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3694c046e7e_0_0"/>
          <p:cNvSpPr txBox="1"/>
          <p:nvPr/>
        </p:nvSpPr>
        <p:spPr>
          <a:xfrm>
            <a:off x="801152" y="801275"/>
            <a:ext cx="70518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to objective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694c046e7e_0_0"/>
          <p:cNvSpPr txBox="1"/>
          <p:nvPr/>
        </p:nvSpPr>
        <p:spPr>
          <a:xfrm>
            <a:off x="912900" y="2316025"/>
            <a:ext cx="103662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00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AutoNum type="arabicPeriod"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generalization across diverse datasets</a:t>
            </a:r>
            <a:endParaRPr sz="2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energy-efficient model design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AutoNum type="arabicPeriod"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Focusing on developing a robust and generalizable deep learning model for breast cancer detection using histopathological images.</a:t>
            </a:r>
            <a:endParaRPr sz="2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AutoNum type="arabicPeriod"/>
            </a:pPr>
            <a:r>
              <a:rPr lang="en-US" sz="2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adaptability across different magnification levels</a:t>
            </a:r>
            <a:endParaRPr sz="27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g3694c046e7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d16899d93_1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3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5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3d16899d93_1_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To improve generalization,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train on diverse datasets.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To design energy-efficient deep learning model,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can reduce computational cost, 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To enhance adaptability,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include varied magnification levels in training.</a:t>
            </a:r>
            <a:b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To increase diagnostic applicability,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integrate clinical data into the model.</a:t>
            </a:r>
            <a:b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3d16899d93_1_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g33d16899d93_1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8350" y="19962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736f624ad_0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Research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g36736f624ad_0_24"/>
          <p:cNvSpPr txBox="1">
            <a:spLocks noGrp="1"/>
          </p:cNvSpPr>
          <p:nvPr>
            <p:ph type="body" idx="1"/>
          </p:nvPr>
        </p:nvSpPr>
        <p:spPr>
          <a:xfrm>
            <a:off x="542925" y="1524138"/>
            <a:ext cx="10515600" cy="483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7625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Excluding the mammogram-based dataset,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focusing on the histopathological datasets.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Designing energy-efficient deep learning models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 reduce computational overhead.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7625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Limiting classification to a binary outcome,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excluding multiclass modeling.</a:t>
            </a:r>
            <a:endParaRPr sz="3000"/>
          </a:p>
          <a:p>
            <a:pPr marL="47625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Developing a robust model across diverse datasets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 improve generalization and reliability.</a:t>
            </a:r>
            <a:endParaRPr sz="3000"/>
          </a:p>
          <a:p>
            <a:pPr marL="47625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Exploring magnification diversity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 enhance adaptability in histopathological image analysis.</a:t>
            </a:r>
            <a:endParaRPr sz="3000"/>
          </a:p>
          <a:p>
            <a:pPr marL="47625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Integrating clinical data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 strengthen real-world diagnostic applicability.</a:t>
            </a:r>
            <a:endParaRPr sz="3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6736f624ad_0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2" name="Google Shape;172;g36736f624ad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12f2b3903_0_0"/>
          <p:cNvSpPr txBox="1">
            <a:spLocks noGrp="1"/>
          </p:cNvSpPr>
          <p:nvPr>
            <p:ph type="title"/>
          </p:nvPr>
        </p:nvSpPr>
        <p:spPr>
          <a:xfrm>
            <a:off x="428050" y="439535"/>
            <a:ext cx="8484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312f2b3903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" name="Google Shape;180;g3312f2b3903_0_0"/>
          <p:cNvGraphicFramePr/>
          <p:nvPr/>
        </p:nvGraphicFramePr>
        <p:xfrm>
          <a:off x="428050" y="1157735"/>
          <a:ext cx="11412850" cy="5075955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80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Paper List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Paper Title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Contributions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Limitations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</a:rPr>
                        <a:t>PSO-optimized fractional order CNNs for enhanced breast cancer detection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</a:rPr>
                        <a:t>Author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en-US" sz="1100" u="none" strike="noStrike" cap="none"/>
                        <a:t>A. Rajasekhar Yadav et al. (</a:t>
                      </a:r>
                      <a:r>
                        <a:rPr lang="en-US" sz="1100" b="1" u="none" strike="noStrike" cap="none"/>
                        <a:t>2025</a:t>
                      </a:r>
                      <a:r>
                        <a:rPr lang="en-US" sz="1100" u="none" strike="noStrike" cap="none"/>
                        <a:t>)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u="none" strike="noStrike" cap="none"/>
                        <a:t>Dataset: INBreast (Mammograms)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u="none" strike="noStrike" cap="none"/>
                        <a:t>Results:</a:t>
                      </a:r>
                      <a:r>
                        <a:rPr lang="en-US" sz="1600" u="none" strike="noStrike" cap="none"/>
                        <a:t> </a:t>
                      </a: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99.35% accuracy, 98.2% specificity, 99% sensitivity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69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Improved image filtering for clearer mammograms</a:t>
                      </a:r>
                      <a:endParaRPr sz="1400" u="none" strike="noStrike" cap="none"/>
                    </a:p>
                    <a:p>
                      <a:pPr marL="469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Created Frac-CNN for better cancer detection</a:t>
                      </a:r>
                      <a:endParaRPr sz="1400" u="none" strike="noStrike" cap="none"/>
                    </a:p>
                    <a:p>
                      <a:pPr marL="469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Used PSO to optimize Frac-CNN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/>
                        <a:t>Limited dataset diversity can reduce model generalizability  (410 images)</a:t>
                      </a:r>
                      <a:endParaRPr sz="1400" b="1" u="none" strike="noStrike" cap="none"/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Model bias, no external checks</a:t>
                      </a:r>
                      <a:endParaRPr sz="1400" u="none" strike="noStrike" cap="none"/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Hard to interpret lesion details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</a:t>
                      </a:r>
                      <a:endParaRPr sz="16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Deep learning and vision transformers-based framework for breast cancer and subtype identification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u="none" strike="noStrike" cap="none"/>
                        <a:t>Author:  Ishrat Jahan et al.</a:t>
                      </a:r>
                      <a:r>
                        <a:rPr lang="en-US" sz="1400" u="none" strike="noStrike" cap="none"/>
                        <a:t> (</a:t>
                      </a:r>
                      <a:r>
                        <a:rPr lang="en-US" sz="1400" b="1" u="none" strike="noStrike" cap="none"/>
                        <a:t>2025</a:t>
                      </a:r>
                      <a:r>
                        <a:rPr lang="en-US" sz="1400" u="none" strike="noStrike" cap="none"/>
                        <a:t>)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Dataset: Warwick HER2 dataset(Histopathological image)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Results: Patch: 96.74% (cancer), 89.78% (subtype); WSI: F1 99.06%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Used Score-CAM for interpretability and pathologist validation</a:t>
                      </a:r>
                      <a:endParaRPr sz="1400" u="none" strike="noStrike" cap="none"/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0" u="none" strike="noStrike" cap="none"/>
                        <a:t>Improved cancer and subtype detection insights</a:t>
                      </a:r>
                      <a:endParaRPr sz="1400" u="none" strike="noStrike" cap="none"/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Tested at 10x and 20x magnification to cut computational cost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Low number of lobular carcinoma cases in the dataset</a:t>
                      </a:r>
                      <a:endParaRPr sz="1400" u="none" strike="noStrike" cap="none"/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/>
                        <a:t> Artificially increasing lobular carcinoma samples may not fully replicate real variability</a:t>
                      </a:r>
                      <a:endParaRPr sz="16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1" name="Google Shape;181;g3312f2b390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8350" y="19962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71f320c5b_0_154"/>
          <p:cNvSpPr txBox="1">
            <a:spLocks noGrp="1"/>
          </p:cNvSpPr>
          <p:nvPr>
            <p:ph type="sldNum" idx="12"/>
          </p:nvPr>
        </p:nvSpPr>
        <p:spPr>
          <a:xfrm>
            <a:off x="8748487" y="51974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g3371f320c5b_0_154"/>
          <p:cNvGraphicFramePr/>
          <p:nvPr/>
        </p:nvGraphicFramePr>
        <p:xfrm>
          <a:off x="480362" y="1520825"/>
          <a:ext cx="11674200" cy="426714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122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breast cancer prediction through stacking ensemble and deep learning integration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Fatih Gurcan et al. (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Breast Cancer Wisconsin (Tabular)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</a:t>
                      </a: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97.72%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Score</a:t>
                      </a: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0.9819,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Time</a:t>
                      </a: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15.42 seconds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 novel Stacking ensemble model combining top ensemble (LGBM, CB, etc.) and deep learning (CNN, RNN, etc.) methods.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11 key diagnostic features using feature importance ranking.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11 key diagnostic features using feature importance ranking.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Bias: Relies only on the Wisconsin dataset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External Validation: Not tested on real-world or varied clinical data.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Sensitivity: Performance depends on engineered features ensemble model can use for improvement.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Stability Concerns: Model performance may vary with changes in data or preprocessing.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9" name="Google Shape;189;g3371f320c5b_0_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2237" y="33851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d16899d93_0_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196" name="Google Shape;196;g33d16899d93_0_10"/>
          <p:cNvGraphicFramePr/>
          <p:nvPr/>
        </p:nvGraphicFramePr>
        <p:xfrm>
          <a:off x="946025" y="1357725"/>
          <a:ext cx="10484125" cy="451098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91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Deep Learning-Based Image Classification for Breast Cancer Subtype and Invasiveness Diagnosis from Whole Slide Image Histopathology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 Aadhi Aadhavan Balasubramanian et al. (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BACH &amp; BreakHis (Histopathological)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Patch: 95.31% (BACH), 98.43% (BreakHis)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Introducing a novel image patching technique.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Enhancement of ensemble techniques with advanced optimization and adaptive methods.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Development of generalizable models across datasets and clinical settings.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Implementation of image patching to manage computational complexity.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discussion of external validation on independent datasets. (That's why it's unclear that the model will work well on an independent dataset.)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doesn't provide a performance breakdown on different subtypes of breast cancer or in image magnification levels.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integration with clinical or genomic metadata.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7" name="Google Shape;197;g33d16899d93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550" y="19962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14dc23593_0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4" name="Google Shape;204;g3314dc23593_0_40"/>
          <p:cNvGraphicFramePr/>
          <p:nvPr/>
        </p:nvGraphicFramePr>
        <p:xfrm>
          <a:off x="428575" y="910800"/>
          <a:ext cx="11161650" cy="550915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85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empowered breast cancer diagnosis: Advancements in detection and classification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Jawad</a:t>
                      </a: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Ahmad et al. (20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CBIS-DDSM(Mammograms)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99.16% classification accuracy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an integrated CAD framework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a fused YOLO-based model for lesion detection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BreastNet-SVM, a customized AlexNet variant for classifying lesions as benign or malignant.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Utilized Associated-ResUNets for superior segmentation performance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clinical or demographic data integration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Challenges with calcification lesion detection due to shape/location variability.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Clinical and regional data are not included, limiting personalized diagnosis.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for medical imaging tasks may be decreased by using natural image pre-training.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" name="Google Shape;205;g3314dc23593_0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8425" y="0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1599f4577_1_50"/>
          <p:cNvSpPr txBox="1">
            <a:spLocks noGrp="1"/>
          </p:cNvSpPr>
          <p:nvPr>
            <p:ph type="sldNum" idx="12"/>
          </p:nvPr>
        </p:nvSpPr>
        <p:spPr>
          <a:xfrm>
            <a:off x="9036198" y="6078385"/>
            <a:ext cx="28851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212" name="Google Shape;212;g331599f4577_1_50"/>
          <p:cNvGraphicFramePr/>
          <p:nvPr/>
        </p:nvGraphicFramePr>
        <p:xfrm>
          <a:off x="333825" y="1570150"/>
          <a:ext cx="11687600" cy="441915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122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Breast Cancer Detection and Localizing the Mass Area Using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 </a:t>
                      </a: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 Md. Mijanur Rahman et al. (2024)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MIAS (mammography)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93.0% accuracy (detection), 97%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Groundbreaking approach (U-Net and YOLO)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 Identification of the tumor with greater precision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Prioritizes mass classification over mass localization, resulting in an uneven distribution of attention.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Depending only on the MIAS dataset it may limit its usefulness to larger populations and other imaging settings.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sample size can make an impact on robustness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mostly covers particular geographical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3" name="Google Shape;213;g331599f4577_1_50"/>
          <p:cNvPicPr preferRelativeResize="0"/>
          <p:nvPr/>
        </p:nvPicPr>
        <p:blipFill rotWithShape="1">
          <a:blip r:embed="rId3">
            <a:alphaModFix/>
          </a:blip>
          <a:srcRect l="-8160" t="-12940" r="8159" b="12940"/>
          <a:stretch/>
        </p:blipFill>
        <p:spPr>
          <a:xfrm>
            <a:off x="10985700" y="104626"/>
            <a:ext cx="935600" cy="6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94c046e7e_0_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220" name="Google Shape;220;g3694c046e7e_0_44"/>
          <p:cNvGraphicFramePr/>
          <p:nvPr/>
        </p:nvGraphicFramePr>
        <p:xfrm>
          <a:off x="515175" y="1434675"/>
          <a:ext cx="11161650" cy="421552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85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Convolution Neural Network for Breast Cancer Detection and Classification Using Deep Learning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Basem S. Abunasser et al.(2024)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BreakHis(Histopathological)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 accuracy of 98.30%,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custom model BCCNN for 8-class breast cancer classification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Applied GAN-based data augmentation to expand the dataset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Tested across multiple magnification levels  for performance evaluation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specific magnification levels (40x, 100x, 200x, 400x)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external validation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There is no mention of explainability techniques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1" name="Google Shape;221;g3694c046e7e_0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1599f4577_1_72"/>
          <p:cNvSpPr txBox="1">
            <a:spLocks noGrp="1"/>
          </p:cNvSpPr>
          <p:nvPr>
            <p:ph type="sldNum" idx="12"/>
          </p:nvPr>
        </p:nvSpPr>
        <p:spPr>
          <a:xfrm>
            <a:off x="9086850" y="6157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28" name="Google Shape;228;g331599f4577_1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2900" y="186350"/>
            <a:ext cx="935600" cy="78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g331599f4577_1_72"/>
          <p:cNvGraphicFramePr/>
          <p:nvPr/>
        </p:nvGraphicFramePr>
        <p:xfrm>
          <a:off x="411425" y="1215900"/>
          <a:ext cx="11297075" cy="469912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82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Cancer Unveiled: A Deep Dive Into Breast Tumor Detection Using Cutting-Edge Deep Learning Models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Wishal Arshad et al. (2023)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Breast Histopathological Images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accuracy (99%), 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VGG-16 (98%) and 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 (97%). 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systematic test of InceptionV3, ResNet152V2, MobileNetV2, VGG-16, DenseNet-121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of the first to comprehensively compare multiple state-of-the-art CNN architectures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histopathology, not mammograms. (which one is better?)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Uniform benchmarking of CNNs.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Fills gap in histopathology AI research.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dataset. (162 breast cancer slide image)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30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AutoNum type="arabicPeriod"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classification only.(but there can be multiple subtype of tumor)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d16899d93_0_36"/>
          <p:cNvSpPr txBox="1">
            <a:spLocks noGrp="1"/>
          </p:cNvSpPr>
          <p:nvPr>
            <p:ph type="sldNum" idx="12"/>
          </p:nvPr>
        </p:nvSpPr>
        <p:spPr>
          <a:xfrm>
            <a:off x="9295950" y="6243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aphicFrame>
        <p:nvGraphicFramePr>
          <p:cNvPr id="236" name="Google Shape;236;g33d16899d93_0_36"/>
          <p:cNvGraphicFramePr/>
          <p:nvPr/>
        </p:nvGraphicFramePr>
        <p:xfrm>
          <a:off x="881575" y="970250"/>
          <a:ext cx="10285775" cy="545075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7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Breast Cancer Detection and Prevention Using Machine Learning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Arslan Khalid et al.(2023)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Breast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Cancer Wisconsin (Tabular)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achieved 96.49% accuracy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three feature selection methods for better model performance.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Integrated both CC and MLO mammogram views.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six ML models for classification.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mammograms only, no clinical/genomic data.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model interpretability techniques used.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dataset, lacks external validation.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Breast Cancer Classification From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Histopathological Images Using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Patch-Based Deep Learning Modeling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Author:  Irum Hirra et al.(2021)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Dataset: Histopathological Image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Results: Accuracy: 86%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Novel Framework ( Pa-DBN-BC)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the automatic and accurate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 of features from images with the help of DBN.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Fewer hardware resources.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classification only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Grayscale image conversion.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Data dependency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Several models are cost-intensive due to training time or architecture complexity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experimental data.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7" name="Google Shape;237;g33d16899d93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611cfadbb_0_0"/>
          <p:cNvSpPr txBox="1">
            <a:spLocks noGrp="1"/>
          </p:cNvSpPr>
          <p:nvPr>
            <p:ph type="sldNum" idx="12"/>
          </p:nvPr>
        </p:nvSpPr>
        <p:spPr>
          <a:xfrm>
            <a:off x="9203025" y="6406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245" name="Google Shape;245;g3a611cfadbb_0_0"/>
          <p:cNvGraphicFramePr/>
          <p:nvPr/>
        </p:nvGraphicFramePr>
        <p:xfrm>
          <a:off x="881575" y="970250"/>
          <a:ext cx="10285775" cy="5801270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7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Deep Learning EfficientNetV2 and Vision Transformer (EffNetV2-ViT) Model for Breast Cancer Histopathological Image Classification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Year: 2024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Journal: IEEE Access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a hybrid deep learning model integrating CNN (EffNetV2) and transformer (ViT) architectures to capture both local and global image features.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improved classification accuracy and robustness in breast cancer histopathology images compared to standalone models.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that feature fusion enhances representation power and reduces overfitting.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only on binary classification (benign vs malignant).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Computationally expensive due to hybrid structure.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evaluated on a single dataset (BreakHis), limiting generalizability.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6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of Breast Cancer in Digital Breast Tomosynthesis with Vision Transformers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Authors: Idan Kassis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Year: 2024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Journal: Scientific Reports (Nature Publishing Group)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 novel CAD system for 3D DBT breast cancer detection using Swin Transformer.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the benefits of attention-based models for medical imaging.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Provided explainable visualizations using Grad-CAM for interpretability.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collected from a single medical center (limited diversity).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classification (no benign vs malignant differentiation).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computational requirements for 3D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6" name="Google Shape;246;g3a611cfadbb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611cfadbb_0_21"/>
          <p:cNvSpPr txBox="1">
            <a:spLocks noGrp="1"/>
          </p:cNvSpPr>
          <p:nvPr>
            <p:ph type="sldNum" idx="12"/>
          </p:nvPr>
        </p:nvSpPr>
        <p:spPr>
          <a:xfrm>
            <a:off x="9179775" y="63331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254" name="Google Shape;254;g3a611cfadbb_0_21"/>
          <p:cNvGraphicFramePr/>
          <p:nvPr/>
        </p:nvGraphicFramePr>
        <p:xfrm>
          <a:off x="881575" y="970250"/>
          <a:ext cx="10669100" cy="5029331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7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and Vision Transformers-Based Framework for Breast Cancer and Subtype Identification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Neural Computing and Applications (Springer)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Year: 2024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Journal: IEEE Access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 ViT-based framework for breast cancer classification.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Progressive Fine-Tuning (PFT) for better generalization.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94.49% accuracy and 0.921 AUC without data augmentation.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Outperformed multiple pretrained CNN models in comparison.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10-fold cross-validation for reliable evaluation.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Reduced overfitting and improved robustness on small medical datasets.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size relatively small (111 WSIs); needs larger, multi-center validation.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two subtypes (ductal, lobular) analyzed — other subtypes excluded.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Patch imbalance between ductal and lobular classes.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0" lvl="0" indent="-31750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further evaluation for generalizability in diverse medical environments.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5" name="Google Shape;255;g3a611cfadbb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611cfadbb_0_38"/>
          <p:cNvSpPr txBox="1">
            <a:spLocks noGrp="1"/>
          </p:cNvSpPr>
          <p:nvPr>
            <p:ph type="sldNum" idx="12"/>
          </p:nvPr>
        </p:nvSpPr>
        <p:spPr>
          <a:xfrm>
            <a:off x="9203025" y="6406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263" name="Google Shape;263;g3a611cfadbb_0_38"/>
          <p:cNvGraphicFramePr/>
          <p:nvPr/>
        </p:nvGraphicFramePr>
        <p:xfrm>
          <a:off x="881575" y="970250"/>
          <a:ext cx="10285775" cy="4021967"/>
        </p:xfrm>
        <a:graphic>
          <a:graphicData uri="http://schemas.openxmlformats.org/drawingml/2006/table">
            <a:tbl>
              <a:tblPr>
                <a:noFill/>
                <a:tableStyleId>{F729751E-DE89-4F00-8BFE-B7A9677A6CD2}</a:tableStyleId>
              </a:tblPr>
              <a:tblGrid>
                <a:gridCol w="7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List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Breast Cancer Detection in Ultrasound Images: An Innovative Approach Using Progressive Fine-Tuning of Vision Transformer Models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Journal of Intelligent Systems (Wiley)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ViT-based framework for ultrasound breast cancer classification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Progressive Fine-Tuning (PFT) for gradual layer adaptation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Reduced overfitting on small datasets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ViT with VGG16/19, DenseNet121/169/201, Inception, ResNet152V2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10-fold cross-validation for robust testing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high accuracy (94.49%) and AUC (0.921) without data augmentation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relatively small (650 images used).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data augmentation — model robustness under varied imaging conditions not tested.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not yet validated across different ultrasound devices or multi-center data.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only on benign vs malignant (normal excluded).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64" name="Google Shape;264;g3a611cfadbb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736f624ad_0_62"/>
          <p:cNvSpPr txBox="1">
            <a:spLocks noGrp="1"/>
          </p:cNvSpPr>
          <p:nvPr>
            <p:ph type="title"/>
          </p:nvPr>
        </p:nvSpPr>
        <p:spPr>
          <a:xfrm>
            <a:off x="344950" y="17823"/>
            <a:ext cx="4218656" cy="115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g36736f624ad_0_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5725" y="199625"/>
            <a:ext cx="935600" cy="7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0A59A2-AD8F-456A-852B-9A3AC09E9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438" y="986300"/>
            <a:ext cx="8424862" cy="53859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8536D6-E167-4CBF-B844-9DB0F7718688}"/>
              </a:ext>
            </a:extLst>
          </p:cNvPr>
          <p:cNvSpPr txBox="1"/>
          <p:nvPr/>
        </p:nvSpPr>
        <p:spPr>
          <a:xfrm>
            <a:off x="2238374" y="2687586"/>
            <a:ext cx="8410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dk1"/>
                </a:solidFill>
                <a:latin typeface="Times New Roman"/>
                <a:cs typeface="Times New Roman"/>
                <a:sym typeface="Calibri"/>
              </a:rPr>
              <a:t>Fine-Tuned CNN Model Results</a:t>
            </a:r>
          </a:p>
        </p:txBody>
      </p:sp>
      <p:pic>
        <p:nvPicPr>
          <p:cNvPr id="6" name="Google Shape;273;g36736f624ad_0_62">
            <a:extLst>
              <a:ext uri="{FF2B5EF4-FFF2-40B4-BE49-F238E27FC236}">
                <a16:creationId xmlns:a16="http://schemas.microsoft.com/office/drawing/2014/main" id="{A8EF45F0-3D6F-449A-99F1-A2ACCBBEC6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5725" y="209150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019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FEDFFA1-0608-4E87-9319-63F667E04C82}"/>
              </a:ext>
            </a:extLst>
          </p:cNvPr>
          <p:cNvGrpSpPr/>
          <p:nvPr/>
        </p:nvGrpSpPr>
        <p:grpSpPr>
          <a:xfrm>
            <a:off x="920284" y="863019"/>
            <a:ext cx="3820682" cy="2741498"/>
            <a:chOff x="761258" y="1191687"/>
            <a:chExt cx="3095124" cy="2433624"/>
          </a:xfrm>
        </p:grpSpPr>
        <p:pic>
          <p:nvPicPr>
            <p:cNvPr id="6" name="Picture 5" descr="A graph with lines and numbers&#10;&#10;Description automatically generated">
              <a:extLst>
                <a:ext uri="{FF2B5EF4-FFF2-40B4-BE49-F238E27FC236}">
                  <a16:creationId xmlns:a16="http://schemas.microsoft.com/office/drawing/2014/main" id="{A5C51612-6D52-48A9-A833-8504188F1E3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1258" y="1191687"/>
              <a:ext cx="3095124" cy="215052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4772EC-1614-4C66-B0C0-65149C016CC4}"/>
                </a:ext>
              </a:extLst>
            </p:cNvPr>
            <p:cNvSpPr txBox="1"/>
            <p:nvPr/>
          </p:nvSpPr>
          <p:spPr>
            <a:xfrm>
              <a:off x="1513482" y="3317534"/>
              <a:ext cx="15906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EfficientNetB0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5EE75EE-5798-4062-BAEF-DAB5D9ED5A16}"/>
              </a:ext>
            </a:extLst>
          </p:cNvPr>
          <p:cNvSpPr txBox="1"/>
          <p:nvPr/>
        </p:nvSpPr>
        <p:spPr>
          <a:xfrm>
            <a:off x="467139" y="93578"/>
            <a:ext cx="12622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dk1"/>
                </a:solidFill>
                <a:latin typeface="Times New Roman"/>
                <a:cs typeface="Times New Roman"/>
                <a:sym typeface="Calibri"/>
              </a:rPr>
              <a:t>Results in Chart- Training Vs Validation Accuracy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A09135-BC1B-4D3E-BB01-30D06764BE72}"/>
              </a:ext>
            </a:extLst>
          </p:cNvPr>
          <p:cNvGrpSpPr/>
          <p:nvPr/>
        </p:nvGrpSpPr>
        <p:grpSpPr>
          <a:xfrm>
            <a:off x="6517210" y="760435"/>
            <a:ext cx="4691270" cy="3049275"/>
            <a:chOff x="6331226" y="1159659"/>
            <a:chExt cx="4691270" cy="30492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4AF0E38-8BD0-466D-AD61-00E0890E2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1226" y="1159659"/>
              <a:ext cx="4691270" cy="274149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A5D8DD-4BE8-47A9-8C5F-B6C90A065A0B}"/>
                </a:ext>
              </a:extLst>
            </p:cNvPr>
            <p:cNvSpPr txBox="1"/>
            <p:nvPr/>
          </p:nvSpPr>
          <p:spPr>
            <a:xfrm>
              <a:off x="8117288" y="3901157"/>
              <a:ext cx="1963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EfficientNetB2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E634E7-944E-4647-96F3-9A67040001D4}"/>
              </a:ext>
            </a:extLst>
          </p:cNvPr>
          <p:cNvGrpSpPr/>
          <p:nvPr/>
        </p:nvGrpSpPr>
        <p:grpSpPr>
          <a:xfrm>
            <a:off x="629448" y="3707125"/>
            <a:ext cx="4249489" cy="2780279"/>
            <a:chOff x="629448" y="3707125"/>
            <a:chExt cx="4249489" cy="278027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74C19A-7E81-4843-B911-D61713195B57}"/>
                </a:ext>
              </a:extLst>
            </p:cNvPr>
            <p:cNvSpPr txBox="1"/>
            <p:nvPr/>
          </p:nvSpPr>
          <p:spPr>
            <a:xfrm>
              <a:off x="2190086" y="6179627"/>
              <a:ext cx="1963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MobileNetV2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FEEAE8-F739-4929-935E-BEBF5626D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448" y="3707125"/>
              <a:ext cx="4249489" cy="252378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28EC36F-1EE1-4127-860A-70FFC628A1AC}"/>
              </a:ext>
            </a:extLst>
          </p:cNvPr>
          <p:cNvGrpSpPr/>
          <p:nvPr/>
        </p:nvGrpSpPr>
        <p:grpSpPr>
          <a:xfrm>
            <a:off x="6778486" y="3982202"/>
            <a:ext cx="4197572" cy="2688621"/>
            <a:chOff x="6778486" y="3852993"/>
            <a:chExt cx="4197572" cy="268862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33F055-255C-4563-B25C-EF938C612C2A}"/>
                </a:ext>
              </a:extLst>
            </p:cNvPr>
            <p:cNvSpPr txBox="1"/>
            <p:nvPr/>
          </p:nvSpPr>
          <p:spPr>
            <a:xfrm>
              <a:off x="8574611" y="6233837"/>
              <a:ext cx="1963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RestNet50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0846D5C-4AC9-4EF1-95E6-0D5AA175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78486" y="3852993"/>
              <a:ext cx="4197572" cy="2398459"/>
            </a:xfrm>
            <a:prstGeom prst="rect">
              <a:avLst/>
            </a:prstGeom>
          </p:spPr>
        </p:pic>
      </p:grpSp>
      <p:pic>
        <p:nvPicPr>
          <p:cNvPr id="23" name="Google Shape;273;g36736f624ad_0_62">
            <a:extLst>
              <a:ext uri="{FF2B5EF4-FFF2-40B4-BE49-F238E27FC236}">
                <a16:creationId xmlns:a16="http://schemas.microsoft.com/office/drawing/2014/main" id="{8EF8A7BC-B13E-4EAD-9D46-0386732CC3D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08480" y="156885"/>
            <a:ext cx="785267" cy="7061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5577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9736C0-2095-4BC7-BB3D-E434529D89C5}"/>
              </a:ext>
            </a:extLst>
          </p:cNvPr>
          <p:cNvSpPr txBox="1"/>
          <p:nvPr/>
        </p:nvSpPr>
        <p:spPr>
          <a:xfrm>
            <a:off x="576237" y="139056"/>
            <a:ext cx="8524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dk1"/>
                </a:solidFill>
                <a:latin typeface="Times New Roman"/>
                <a:cs typeface="Times New Roman"/>
              </a:rPr>
              <a:t>Results in Charts- ROC-AUC Curve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CA5540-7E73-422D-AE76-F90B5507D5F0}"/>
              </a:ext>
            </a:extLst>
          </p:cNvPr>
          <p:cNvGrpSpPr/>
          <p:nvPr/>
        </p:nvGrpSpPr>
        <p:grpSpPr>
          <a:xfrm>
            <a:off x="828674" y="969466"/>
            <a:ext cx="4448176" cy="2693848"/>
            <a:chOff x="600563" y="908796"/>
            <a:chExt cx="4571021" cy="318522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1F647E-6031-4A75-A774-D560D3E43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563" y="908796"/>
              <a:ext cx="4571021" cy="297066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971D038-7A91-46C6-A1C3-52568559EF39}"/>
                </a:ext>
              </a:extLst>
            </p:cNvPr>
            <p:cNvSpPr txBox="1"/>
            <p:nvPr/>
          </p:nvSpPr>
          <p:spPr>
            <a:xfrm>
              <a:off x="2009776" y="3786247"/>
              <a:ext cx="14001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EfficientNetB0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4A867C-B2DF-410F-89C5-E1A8AFADACB0}"/>
              </a:ext>
            </a:extLst>
          </p:cNvPr>
          <p:cNvGrpSpPr/>
          <p:nvPr/>
        </p:nvGrpSpPr>
        <p:grpSpPr>
          <a:xfrm>
            <a:off x="6524364" y="798016"/>
            <a:ext cx="4732407" cy="3181117"/>
            <a:chOff x="6334125" y="950416"/>
            <a:chExt cx="4732407" cy="3181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6ACDE17-153D-4FCD-BB38-EA0A5A864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4125" y="950416"/>
              <a:ext cx="4732407" cy="29706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3D20F8-54AA-4555-9847-51B9D43F52A8}"/>
                </a:ext>
              </a:extLst>
            </p:cNvPr>
            <p:cNvSpPr txBox="1"/>
            <p:nvPr/>
          </p:nvSpPr>
          <p:spPr>
            <a:xfrm>
              <a:off x="8782051" y="3818793"/>
              <a:ext cx="1363919" cy="3127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EfficientNetB2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6D1577-7E85-448D-BC38-8593B195DE3E}"/>
              </a:ext>
            </a:extLst>
          </p:cNvPr>
          <p:cNvGrpSpPr/>
          <p:nvPr/>
        </p:nvGrpSpPr>
        <p:grpSpPr>
          <a:xfrm>
            <a:off x="576237" y="3691404"/>
            <a:ext cx="4610099" cy="2966570"/>
            <a:chOff x="576237" y="3691404"/>
            <a:chExt cx="4610099" cy="296657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87F8D4C-731F-474F-999C-70D4FE7B5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237" y="3691404"/>
              <a:ext cx="4610099" cy="271976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E6FF1B-25FC-4A77-93A3-A3F0AD561B9D}"/>
                </a:ext>
              </a:extLst>
            </p:cNvPr>
            <p:cNvSpPr txBox="1"/>
            <p:nvPr/>
          </p:nvSpPr>
          <p:spPr>
            <a:xfrm>
              <a:off x="2266925" y="6350197"/>
              <a:ext cx="12287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MobileNetV2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1DCB74-D363-4B7D-A97D-E7D49C5722DC}"/>
              </a:ext>
            </a:extLst>
          </p:cNvPr>
          <p:cNvGrpSpPr/>
          <p:nvPr/>
        </p:nvGrpSpPr>
        <p:grpSpPr>
          <a:xfrm>
            <a:off x="6519954" y="3884723"/>
            <a:ext cx="4904671" cy="2834221"/>
            <a:chOff x="6519954" y="3884723"/>
            <a:chExt cx="4904671" cy="283422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C48E586-43C2-40B4-B228-771019AEB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9954" y="3884723"/>
              <a:ext cx="4904671" cy="261936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1F2072-6D5A-4B85-A0A9-42062206352B}"/>
                </a:ext>
              </a:extLst>
            </p:cNvPr>
            <p:cNvSpPr txBox="1"/>
            <p:nvPr/>
          </p:nvSpPr>
          <p:spPr>
            <a:xfrm>
              <a:off x="8696352" y="6411167"/>
              <a:ext cx="16858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RestNet50</a:t>
              </a:r>
            </a:p>
          </p:txBody>
        </p:sp>
      </p:grpSp>
      <p:pic>
        <p:nvPicPr>
          <p:cNvPr id="26" name="Google Shape;273;g36736f624ad_0_62">
            <a:extLst>
              <a:ext uri="{FF2B5EF4-FFF2-40B4-BE49-F238E27FC236}">
                <a16:creationId xmlns:a16="http://schemas.microsoft.com/office/drawing/2014/main" id="{801BB3F4-E7E2-443F-9173-8F39D84D1D4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82349" y="276489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6312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B953729-92B4-4B2B-B2A7-BD8BCC9CB88D}"/>
              </a:ext>
            </a:extLst>
          </p:cNvPr>
          <p:cNvGrpSpPr/>
          <p:nvPr/>
        </p:nvGrpSpPr>
        <p:grpSpPr>
          <a:xfrm>
            <a:off x="1211793" y="3787903"/>
            <a:ext cx="3527683" cy="2824732"/>
            <a:chOff x="628650" y="3577824"/>
            <a:chExt cx="3280033" cy="30503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EC99EC-8F0C-43EC-9365-FFE62307D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3577824"/>
              <a:ext cx="3280033" cy="293499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36B8BC-43CD-4AAA-A2CA-3DBCD6BDB1AE}"/>
                </a:ext>
              </a:extLst>
            </p:cNvPr>
            <p:cNvSpPr txBox="1"/>
            <p:nvPr/>
          </p:nvSpPr>
          <p:spPr>
            <a:xfrm>
              <a:off x="1562100" y="6358928"/>
              <a:ext cx="1200150" cy="269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MobileNetV2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92285E-B85B-45F2-AB47-F1D155A7F257}"/>
              </a:ext>
            </a:extLst>
          </p:cNvPr>
          <p:cNvGrpSpPr/>
          <p:nvPr/>
        </p:nvGrpSpPr>
        <p:grpSpPr>
          <a:xfrm>
            <a:off x="7575605" y="620072"/>
            <a:ext cx="3341560" cy="3061006"/>
            <a:chOff x="5772741" y="977297"/>
            <a:chExt cx="3341560" cy="306100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ADCD3A-5F8B-4A5B-8702-2F06A7474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2741" y="977297"/>
              <a:ext cx="3341560" cy="293789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F41FD0-BC03-4746-AF88-CFE01E6CDAC0}"/>
                </a:ext>
              </a:extLst>
            </p:cNvPr>
            <p:cNvSpPr txBox="1"/>
            <p:nvPr/>
          </p:nvSpPr>
          <p:spPr>
            <a:xfrm>
              <a:off x="6910635" y="3792082"/>
              <a:ext cx="14540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EfficientNetB2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83E6AF-35AC-4C0F-8BEC-9C7C07FA0B41}"/>
              </a:ext>
            </a:extLst>
          </p:cNvPr>
          <p:cNvGrpSpPr/>
          <p:nvPr/>
        </p:nvGrpSpPr>
        <p:grpSpPr>
          <a:xfrm>
            <a:off x="1363987" y="668234"/>
            <a:ext cx="3156810" cy="3012844"/>
            <a:chOff x="1041698" y="593608"/>
            <a:chExt cx="3156810" cy="301284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4130B6-899C-4EA7-9AD9-6899651FB735}"/>
                </a:ext>
              </a:extLst>
            </p:cNvPr>
            <p:cNvSpPr txBox="1"/>
            <p:nvPr/>
          </p:nvSpPr>
          <p:spPr>
            <a:xfrm>
              <a:off x="1990725" y="3360231"/>
              <a:ext cx="14573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EfficientNetB0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355F86F-E56A-408C-84E3-4C20AB1C9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1698" y="593608"/>
              <a:ext cx="3156810" cy="2824732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3A6C087-C7D4-45D0-94B4-4A01ABEE7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931" y="3681078"/>
            <a:ext cx="3283276" cy="2937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562FE1B-3BD1-4140-A41D-B232AAF167A6}"/>
              </a:ext>
            </a:extLst>
          </p:cNvPr>
          <p:cNvSpPr txBox="1"/>
          <p:nvPr/>
        </p:nvSpPr>
        <p:spPr>
          <a:xfrm>
            <a:off x="8929922" y="6510148"/>
            <a:ext cx="9930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RestNet50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614BBB-9129-42C4-B0B0-8CFEE32081C1}"/>
              </a:ext>
            </a:extLst>
          </p:cNvPr>
          <p:cNvSpPr txBox="1"/>
          <p:nvPr/>
        </p:nvSpPr>
        <p:spPr>
          <a:xfrm>
            <a:off x="342899" y="101631"/>
            <a:ext cx="9248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Arial"/>
              </a:rPr>
              <a:t>Results in Charts- Confusion Matrix</a:t>
            </a:r>
          </a:p>
        </p:txBody>
      </p:sp>
      <p:pic>
        <p:nvPicPr>
          <p:cNvPr id="32" name="Google Shape;273;g36736f624ad_0_62">
            <a:extLst>
              <a:ext uri="{FF2B5EF4-FFF2-40B4-BE49-F238E27FC236}">
                <a16:creationId xmlns:a16="http://schemas.microsoft.com/office/drawing/2014/main" id="{064AA916-A550-450E-ACA1-43B682131CD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82349" y="276489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574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0B4A-ED0D-4F04-AC1F-E525BB58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Ensemble Model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725F5-B117-41CE-9B95-D1576CAB25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5" name="Google Shape;273;g36736f624ad_0_62">
            <a:extLst>
              <a:ext uri="{FF2B5EF4-FFF2-40B4-BE49-F238E27FC236}">
                <a16:creationId xmlns:a16="http://schemas.microsoft.com/office/drawing/2014/main" id="{D5AE2C2A-CEBC-4D86-9A59-4F2D3648AE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82349" y="286014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492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F8D011-C8BF-4BD7-A26E-B2C2B1937F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AB789-B760-4484-BD5A-B9EE96F8C732}"/>
              </a:ext>
            </a:extLst>
          </p:cNvPr>
          <p:cNvSpPr txBox="1"/>
          <p:nvPr/>
        </p:nvSpPr>
        <p:spPr>
          <a:xfrm>
            <a:off x="333375" y="229225"/>
            <a:ext cx="11858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Calibri"/>
              </a:rPr>
              <a:t>Results in Chart- Training Vs Validation Accuracy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F0C2E8-0DD0-4F6B-840A-15DB19788075}"/>
              </a:ext>
            </a:extLst>
          </p:cNvPr>
          <p:cNvGrpSpPr/>
          <p:nvPr/>
        </p:nvGrpSpPr>
        <p:grpSpPr>
          <a:xfrm>
            <a:off x="555538" y="998666"/>
            <a:ext cx="4833830" cy="2813177"/>
            <a:chOff x="412663" y="1009650"/>
            <a:chExt cx="4092662" cy="27476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7C1E70-439C-49CD-B490-229095EC9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663" y="1009650"/>
              <a:ext cx="4092662" cy="261355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23CB05-0DA7-4652-B1F0-54D575119C6A}"/>
                </a:ext>
              </a:extLst>
            </p:cNvPr>
            <p:cNvSpPr txBox="1"/>
            <p:nvPr/>
          </p:nvSpPr>
          <p:spPr>
            <a:xfrm>
              <a:off x="1695450" y="3511082"/>
              <a:ext cx="23637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EfficientNetB0+MobileNetV2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DE91A0-95C9-483E-9E29-76AE49CA06B3}"/>
              </a:ext>
            </a:extLst>
          </p:cNvPr>
          <p:cNvGrpSpPr/>
          <p:nvPr/>
        </p:nvGrpSpPr>
        <p:grpSpPr>
          <a:xfrm>
            <a:off x="6600825" y="1112854"/>
            <a:ext cx="4648199" cy="2782871"/>
            <a:chOff x="6667499" y="1112854"/>
            <a:chExt cx="4581525" cy="317196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387D68C-6DCB-4374-BA42-7D750FAC9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499" y="1112854"/>
              <a:ext cx="4581525" cy="292574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CFB610-3944-4A91-B674-E63E5D0D02F9}"/>
                </a:ext>
              </a:extLst>
            </p:cNvPr>
            <p:cNvSpPr txBox="1"/>
            <p:nvPr/>
          </p:nvSpPr>
          <p:spPr>
            <a:xfrm>
              <a:off x="8305800" y="4038600"/>
              <a:ext cx="1905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EfficientNetB0+MobileNetV2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8337A6-6D0F-4E9F-8F38-FDD605ECC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080" y="3603643"/>
            <a:ext cx="4307909" cy="275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AEE341-9703-4C67-83EC-54E937F25895}"/>
              </a:ext>
            </a:extLst>
          </p:cNvPr>
          <p:cNvSpPr txBox="1"/>
          <p:nvPr/>
        </p:nvSpPr>
        <p:spPr>
          <a:xfrm>
            <a:off x="5188778" y="6292691"/>
            <a:ext cx="18144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EfficientNetB0+RestNet50</a:t>
            </a:r>
          </a:p>
        </p:txBody>
      </p:sp>
      <p:pic>
        <p:nvPicPr>
          <p:cNvPr id="25" name="Google Shape;273;g36736f624ad_0_62">
            <a:extLst>
              <a:ext uri="{FF2B5EF4-FFF2-40B4-BE49-F238E27FC236}">
                <a16:creationId xmlns:a16="http://schemas.microsoft.com/office/drawing/2014/main" id="{0572FEC0-E16B-4950-81BF-8C2B36C322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82349" y="276489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572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D9DCF-57B1-4883-A03E-8AA3EAAB43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34119-07A6-4868-A34F-5A427CDD4670}"/>
              </a:ext>
            </a:extLst>
          </p:cNvPr>
          <p:cNvSpPr txBox="1"/>
          <p:nvPr/>
        </p:nvSpPr>
        <p:spPr>
          <a:xfrm>
            <a:off x="1924050" y="136525"/>
            <a:ext cx="94297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Arial"/>
              </a:rPr>
              <a:t>Results in Charts- ROC-AUC Curve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EF43DE-80A1-4A4E-9BE8-C9D3937A67B0}"/>
              </a:ext>
            </a:extLst>
          </p:cNvPr>
          <p:cNvGrpSpPr/>
          <p:nvPr/>
        </p:nvGrpSpPr>
        <p:grpSpPr>
          <a:xfrm>
            <a:off x="414379" y="892672"/>
            <a:ext cx="4738646" cy="3060668"/>
            <a:chOff x="385804" y="905966"/>
            <a:chExt cx="3719472" cy="306066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F66E5AA-8484-489E-A8DD-251AC0B6A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804" y="905966"/>
              <a:ext cx="3719472" cy="293755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371163-9670-4FEA-ACEC-072C8F8C9D0D}"/>
                </a:ext>
              </a:extLst>
            </p:cNvPr>
            <p:cNvSpPr txBox="1"/>
            <p:nvPr/>
          </p:nvSpPr>
          <p:spPr>
            <a:xfrm>
              <a:off x="1457325" y="3720413"/>
              <a:ext cx="19526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EfficientNetB0+MobileNetV2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9D35D1-D3AF-4048-99CA-FBA135A31F4A}"/>
              </a:ext>
            </a:extLst>
          </p:cNvPr>
          <p:cNvGrpSpPr/>
          <p:nvPr/>
        </p:nvGrpSpPr>
        <p:grpSpPr>
          <a:xfrm>
            <a:off x="5867400" y="851905"/>
            <a:ext cx="5200650" cy="3101435"/>
            <a:chOff x="5717814" y="851905"/>
            <a:chExt cx="5350236" cy="33068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65C522C-E301-4672-80A6-D5A9B96B9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7814" y="851905"/>
              <a:ext cx="5350236" cy="314220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69891A-BCCA-4F4D-88B7-8B00DC774574}"/>
                </a:ext>
              </a:extLst>
            </p:cNvPr>
            <p:cNvSpPr txBox="1"/>
            <p:nvPr/>
          </p:nvSpPr>
          <p:spPr>
            <a:xfrm>
              <a:off x="7848600" y="3912520"/>
              <a:ext cx="1905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EfficientNetB0+MobileNetV2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DF40A1-3E2B-4820-8B15-9FE594D8F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3544136"/>
            <a:ext cx="4240370" cy="306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82EFDEC-6FE5-4FF7-A2BF-BE52D7C1E2CC}"/>
              </a:ext>
            </a:extLst>
          </p:cNvPr>
          <p:cNvSpPr txBox="1"/>
          <p:nvPr/>
        </p:nvSpPr>
        <p:spPr>
          <a:xfrm>
            <a:off x="4867275" y="6488037"/>
            <a:ext cx="1771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EfficientNetB0+RestNet50</a:t>
            </a:r>
          </a:p>
        </p:txBody>
      </p:sp>
    </p:spTree>
    <p:extLst>
      <p:ext uri="{BB962C8B-B14F-4D97-AF65-F5344CB8AC3E}">
        <p14:creationId xmlns:p14="http://schemas.microsoft.com/office/powerpoint/2010/main" val="3934568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F9FC8-7166-40B1-B9AC-2C77AE10B9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E0A3A-2EF7-4892-9336-9190EA580886}"/>
              </a:ext>
            </a:extLst>
          </p:cNvPr>
          <p:cNvSpPr txBox="1"/>
          <p:nvPr/>
        </p:nvSpPr>
        <p:spPr>
          <a:xfrm>
            <a:off x="2314575" y="501649"/>
            <a:ext cx="8610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Arial"/>
              </a:rPr>
              <a:t>Results in Charts- Confusion Matrix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4DC69A-E47E-41F8-A1C1-D617A18AAA11}"/>
              </a:ext>
            </a:extLst>
          </p:cNvPr>
          <p:cNvGrpSpPr/>
          <p:nvPr/>
        </p:nvGrpSpPr>
        <p:grpSpPr>
          <a:xfrm>
            <a:off x="190500" y="1752689"/>
            <a:ext cx="3746758" cy="3475732"/>
            <a:chOff x="190500" y="1752689"/>
            <a:chExt cx="3746758" cy="347573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112C878-9B14-441D-B6EA-6C2CBF294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0" y="1752689"/>
              <a:ext cx="3746758" cy="335262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4D9319-579C-4E0C-B4C4-F9E95EC74EBC}"/>
                </a:ext>
              </a:extLst>
            </p:cNvPr>
            <p:cNvSpPr txBox="1"/>
            <p:nvPr/>
          </p:nvSpPr>
          <p:spPr>
            <a:xfrm>
              <a:off x="933450" y="4982200"/>
              <a:ext cx="18288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EfficientNetB0+MobileNetV2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D5B51B-9459-414E-BCBA-184D5878D46D}"/>
              </a:ext>
            </a:extLst>
          </p:cNvPr>
          <p:cNvGrpSpPr/>
          <p:nvPr/>
        </p:nvGrpSpPr>
        <p:grpSpPr>
          <a:xfrm>
            <a:off x="4081455" y="1752689"/>
            <a:ext cx="4029090" cy="3665481"/>
            <a:chOff x="4081455" y="1752689"/>
            <a:chExt cx="4029090" cy="366548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C7A42BD-7209-4274-A7FC-F6BA5105D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1455" y="1752689"/>
              <a:ext cx="4029090" cy="354237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977690-EE09-4313-9318-FF52A87B41CC}"/>
                </a:ext>
              </a:extLst>
            </p:cNvPr>
            <p:cNvSpPr txBox="1"/>
            <p:nvPr/>
          </p:nvSpPr>
          <p:spPr>
            <a:xfrm>
              <a:off x="5138737" y="5171949"/>
              <a:ext cx="19145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EfficientNetB0+MobileNetV2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188FA2-2D43-4E13-BA98-47AF22C35295}"/>
              </a:ext>
            </a:extLst>
          </p:cNvPr>
          <p:cNvGrpSpPr/>
          <p:nvPr/>
        </p:nvGrpSpPr>
        <p:grpSpPr>
          <a:xfrm>
            <a:off x="8110545" y="1752689"/>
            <a:ext cx="3799637" cy="3475732"/>
            <a:chOff x="8110545" y="1752689"/>
            <a:chExt cx="3799637" cy="347573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4AAB2125-61B4-4C4D-AAEA-3AE40E806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0545" y="1752689"/>
              <a:ext cx="3799637" cy="3352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378F6B2-7EC0-4CA5-8E31-EA16EF8AB945}"/>
                </a:ext>
              </a:extLst>
            </p:cNvPr>
            <p:cNvSpPr txBox="1"/>
            <p:nvPr/>
          </p:nvSpPr>
          <p:spPr>
            <a:xfrm>
              <a:off x="9148762" y="4982200"/>
              <a:ext cx="1666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EfficientNetB0+RestNet50</a:t>
              </a:r>
            </a:p>
          </p:txBody>
        </p:sp>
      </p:grpSp>
      <p:pic>
        <p:nvPicPr>
          <p:cNvPr id="29" name="Google Shape;273;g36736f624ad_0_62">
            <a:extLst>
              <a:ext uri="{FF2B5EF4-FFF2-40B4-BE49-F238E27FC236}">
                <a16:creationId xmlns:a16="http://schemas.microsoft.com/office/drawing/2014/main" id="{727DA887-1636-41C7-96D1-165BE4F0DA9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82349" y="286014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2423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217DB6-D26D-4B49-A634-5109D79C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0" y="1738356"/>
            <a:ext cx="2971800" cy="101282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08729-7350-4AD2-8E53-DB3BF0B09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51181"/>
            <a:ext cx="10515600" cy="1908175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developed a deep learning framework for breast cancer detection using histopathological images. Fine-tuned models and hybrid ensembles achieved high performance, reaching up to 95.95% accuracy. The results demonstrate that the proposed approach provides reliable and robust classification suitable for real-world diagnostic use.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1C487-F1B4-4AF6-B2D0-448ED688C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8" name="Google Shape;273;g36736f624ad_0_62">
            <a:extLst>
              <a:ext uri="{FF2B5EF4-FFF2-40B4-BE49-F238E27FC236}">
                <a16:creationId xmlns:a16="http://schemas.microsoft.com/office/drawing/2014/main" id="{83A77307-2E94-47DE-8A03-6CA0E278AB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82349" y="276489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3635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0D9ADF-06E2-4640-A241-39E465A16472}"/>
              </a:ext>
            </a:extLst>
          </p:cNvPr>
          <p:cNvSpPr txBox="1"/>
          <p:nvPr/>
        </p:nvSpPr>
        <p:spPr>
          <a:xfrm>
            <a:off x="981075" y="1229555"/>
            <a:ext cx="3419475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US" sz="4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E95B8-EAF4-413E-B53B-6717A62655D7}"/>
              </a:ext>
            </a:extLst>
          </p:cNvPr>
          <p:cNvSpPr txBox="1"/>
          <p:nvPr/>
        </p:nvSpPr>
        <p:spPr>
          <a:xfrm>
            <a:off x="1114425" y="1931286"/>
            <a:ext cx="862965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Expanding the study to multi-hospital datasets can strengthen   model reliability across diverse populations.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Incorporating multimodal inputs such as patient history or genomic data may improve prediction accuracy.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Deploying the model as a user-friendly clinical application can support pathologists in routine diagnostics.</a:t>
            </a:r>
          </a:p>
        </p:txBody>
      </p:sp>
      <p:pic>
        <p:nvPicPr>
          <p:cNvPr id="7" name="Google Shape;273;g36736f624ad_0_62">
            <a:extLst>
              <a:ext uri="{FF2B5EF4-FFF2-40B4-BE49-F238E27FC236}">
                <a16:creationId xmlns:a16="http://schemas.microsoft.com/office/drawing/2014/main" id="{25EF7278-5BFE-4D87-A38E-0112A7F470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82349" y="276489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120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736f624ad_0_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6736f624ad_0_70"/>
          <p:cNvSpPr txBox="1">
            <a:spLocks noGrp="1"/>
          </p:cNvSpPr>
          <p:nvPr>
            <p:ph type="body" idx="1"/>
          </p:nvPr>
        </p:nvSpPr>
        <p:spPr>
          <a:xfrm>
            <a:off x="838200" y="1780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45795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Jahan, I., Chowdhury, M.E.H.,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Vranic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S. et al. Deep learning and vision transformers-based framework for breast cancer and subtype identification. Neural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Comput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Applic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37, 9311–9330 (2025).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00201" lvl="2" indent="-330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5795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Gurcan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F. (2025). Enhancing breast cancer prediction through stacking ensemble and deep learning integration.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PeerJ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Computer Science, 11, e2461.</a:t>
            </a:r>
            <a:endParaRPr sz="2000" dirty="0"/>
          </a:p>
          <a:p>
            <a:pPr marL="742949" lvl="0" indent="-387349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5795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Balasubramanian, A. A., Al-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Heejawi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S. M. A., Singh, A.,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Breggia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A., Ahmad, B.,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Christman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R., ... &amp; Amal, S. (2024). Ensemble deep learning-based image classification for breast cancer subtype and invasiveness diagnosis from whole slide image histopathology. Cancers, 16(12), 2222.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00201" lvl="2" indent="-330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5795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Ahmad, J.,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Akram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S., Jaffar, A., Ali, Z., Bhatti, S. M., Ahmad, A., &amp; Rehman, S. U. (2024). Deep learning empowered breast cancer diagnosis: Advancements in detection and classification.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Plos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one, 19(7), e0304757.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6736f624ad_0_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65" name="Google Shape;365;g36736f624ad_0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5725" y="19962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94c046e7e_0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g3694c046e7e_0_28"/>
          <p:cNvSpPr txBox="1">
            <a:spLocks noGrp="1"/>
          </p:cNvSpPr>
          <p:nvPr>
            <p:ph type="body" idx="1"/>
          </p:nvPr>
        </p:nvSpPr>
        <p:spPr>
          <a:xfrm>
            <a:off x="685800" y="16241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71513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60"/>
              <a:buFont typeface="Arial"/>
              <a:buAutoNum type="arabicPeriod" startAt="5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Rahman, M. M., Jahangir, M. Z. B., Rahman, A.,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Akter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M., Nasim, M. A. A., Gupta, K. D., &amp; George, R. (2024). Breast Cancer Detection and Localizing the Mass Area Using Deep Learning. Big Data and Cognitive Computing, 8(7), 80. </a:t>
            </a:r>
            <a:endParaRPr sz="2000" dirty="0"/>
          </a:p>
          <a:p>
            <a:pPr marL="565377" lvl="0" indent="-21844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6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1513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60"/>
              <a:buFont typeface="Arial"/>
              <a:buAutoNum type="arabicPeriod" startAt="5"/>
            </a:pP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Abunasser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B. S., Al-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Hiealy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M. R. J.,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Zaqout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I. S., &amp; Abu-Naser, S. S. (2023). Convolution neural network for breast cancer detection and classification using deep learning. Asian Pacific journal of cancer prevention: APJCP, 24(2), 531.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0" indent="-27559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6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1513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60"/>
              <a:buFont typeface="Arial"/>
              <a:buAutoNum type="arabicPeriod" startAt="5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W. Arshad et al., "Cancer Unveiled: A Deep Dive Into Breast Tumor Detection Using Cutting-Edge Deep Learning Models," in IEEE Access, vol. 11, pp. 133804-133824, 2023,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: 10.1109/ACCESS.2023.3335604.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g3694c046e7e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74" name="Google Shape;374;g3694c046e7e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7350" y="183575"/>
            <a:ext cx="935600" cy="7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80" name="Google Shape;380;p1"/>
          <p:cNvSpPr txBox="1"/>
          <p:nvPr/>
        </p:nvSpPr>
        <p:spPr>
          <a:xfrm>
            <a:off x="838200" y="1780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00201" marR="0" lvl="2" indent="-377189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8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Khalid, A., Mehmood, A.,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Alabrah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Alkhamees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B. F., Amin, F.,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AlSalman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H., &amp; Choi, G. S. (2023). Breast cancer detection and prevention using machine learning. Diagnostics, 13(19), 3113.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8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Hirra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"Breast Cancer Classification From Histopathological Images Using Patch-Based Deep Learning Modeling," in IEEE Access, vol. 9, pp. 24273-24287, 2021,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10.1109/ACCESS.2021.3056516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8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Kassis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I., Lederman, D., Ben-Arie, G., Rosenthal, M. G.,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Shelef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I., &amp;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Zigel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Y. (2024). Detection of breast cancer in digital breast tomosynthesis with vision transformers. Scientific Reports, 14(22149).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https://doi.org/10.1038/s41598-024-72707-2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8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pic>
        <p:nvPicPr>
          <p:cNvPr id="5" name="Google Shape;273;g36736f624ad_0_62">
            <a:extLst>
              <a:ext uri="{FF2B5EF4-FFF2-40B4-BE49-F238E27FC236}">
                <a16:creationId xmlns:a16="http://schemas.microsoft.com/office/drawing/2014/main" id="{E67CCE6B-5510-49B9-873D-A08980D972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2349" y="286014"/>
            <a:ext cx="693275" cy="632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694c046e7e_0_306"/>
          <p:cNvSpPr txBox="1"/>
          <p:nvPr/>
        </p:nvSpPr>
        <p:spPr>
          <a:xfrm>
            <a:off x="2980200" y="2043643"/>
            <a:ext cx="6231600" cy="83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694c046e7e_0_3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CF3D6-49B5-450D-8039-98CC732B0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988" y="2981325"/>
            <a:ext cx="1670855" cy="20891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3694c046e7e_0_3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4451" y="2457451"/>
            <a:ext cx="19431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694c046e7e_0_387"/>
          <p:cNvSpPr txBox="1"/>
          <p:nvPr/>
        </p:nvSpPr>
        <p:spPr>
          <a:xfrm>
            <a:off x="4284447" y="1595967"/>
            <a:ext cx="3623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???</a:t>
            </a:r>
            <a:endParaRPr sz="2133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694c046e7e_0_3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2601</Words>
  <Application>Microsoft Office PowerPoint</Application>
  <PresentationFormat>Widescreen</PresentationFormat>
  <Paragraphs>387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Times New Roman</vt:lpstr>
      <vt:lpstr>Office Theme</vt:lpstr>
      <vt:lpstr>    An Energy-Efficient Deep Learning Model for Breast Cancer Detection  </vt:lpstr>
      <vt:lpstr>PowerPoint Presentation</vt:lpstr>
      <vt:lpstr>Problem Statement </vt:lpstr>
      <vt:lpstr>Research Gaps </vt:lpstr>
      <vt:lpstr>PowerPoint Presentation</vt:lpstr>
      <vt:lpstr>Objectives</vt:lpstr>
      <vt:lpstr>Research Scope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Ensemble Model Results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 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Energy-Efficient Deep Learning Model for Breast Cancer Detection</dc:title>
  <dc:creator>Marzia Ahmed</dc:creator>
  <cp:lastModifiedBy>Asfia Arpi</cp:lastModifiedBy>
  <cp:revision>4</cp:revision>
  <dcterms:created xsi:type="dcterms:W3CDTF">2023-10-03T04:05:12Z</dcterms:created>
  <dcterms:modified xsi:type="dcterms:W3CDTF">2025-12-11T06:45:54Z</dcterms:modified>
</cp:coreProperties>
</file>